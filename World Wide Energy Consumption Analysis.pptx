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77" r:id="rId3"/>
    <p:sldId id="256" r:id="rId4"/>
    <p:sldId id="257" r:id="rId5"/>
    <p:sldId id="263" r:id="rId6"/>
    <p:sldId id="264" r:id="rId7"/>
    <p:sldId id="260" r:id="rId8"/>
    <p:sldId id="261" r:id="rId9"/>
    <p:sldId id="266" r:id="rId10"/>
    <p:sldId id="267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9" r:id="rId22"/>
  </p:sldIdLst>
  <p:sldSz cx="12192000" cy="6858000"/>
  <p:notesSz cx="6858000" cy="9144000"/>
  <p:embeddedFontLst>
    <p:embeddedFont>
      <p:font typeface="Berlin Sans FB Demi" panose="020E0802020502020306" pitchFamily="34" charset="0"/>
      <p:bold r:id="rId24"/>
    </p:embeddedFont>
    <p:embeddedFont>
      <p:font typeface="Lato Black" panose="020F0502020204030203" pitchFamily="34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4D7243C-D101-E355-D4DA-13D96D4F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96EABD7-475E-183E-92D6-6DD383642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C28E109-8CFA-AA54-1109-996E97E07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8490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67F2279-0959-B2EB-E2FE-2F2CDFC3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81E5994-132C-8B93-0B11-2A2486C0D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81B1DF5-7F84-55D4-DD01-76F811E7F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8951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F1A7CC3-3407-AFF7-981F-9104714F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F964628-F950-3CA0-96A7-646858185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2095543-5CEA-A969-C3DD-1CC3D3463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9354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E84A958-D606-B06A-BA37-0D9B76F1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70C4B07-3FD9-8DF2-C57F-A67202E8C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10915D8-0C8C-73DE-AB24-BDBE2FF8B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1224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B0B76A-7D1C-77D0-D749-92AB4AFF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8CE2F34-089F-0715-9C8D-AD70D9EB5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D8C8664-38AA-00D6-5E80-9C0D8B976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4449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CFDF10C-68D8-11DB-94B0-6B881EA1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60F5547-0722-968D-3FBA-DB522EF40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6A3259B-88F2-3D50-320D-107751E699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8444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arvezshaik2703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arvezsk2703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EB33A9-1C62-F3F1-4294-84654F176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2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D9662-3840-A1B2-DB2F-7FD44EFA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7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83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4000" b="1" dirty="0">
                <a:solidFill>
                  <a:srgbClr val="002060"/>
                </a:solidFill>
              </a:rPr>
              <a:t>World Wide Energy Consumption Analysis</a:t>
            </a:r>
            <a:endParaRPr sz="4000" b="1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2E10217F-1727-4DD0-956B-724FF5987E5C}"/>
              </a:ext>
            </a:extLst>
          </p:cNvPr>
          <p:cNvSpPr txBox="1"/>
          <p:nvPr/>
        </p:nvSpPr>
        <p:spPr>
          <a:xfrm>
            <a:off x="8321447" y="5534214"/>
            <a:ext cx="312330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Presented By: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000" b="1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Parvez Shaik</a:t>
            </a:r>
            <a:endParaRPr sz="3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90328" y="1240178"/>
            <a:ext cx="8327529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Parvez Shaik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 : </a:t>
            </a:r>
            <a:r>
              <a:rPr lang="en-IN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(CSE)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https://www.linkedin.com/in/parvezshaik2703/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https://github.com/parvezsk2703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8025C92-F293-30D1-334E-7C52118D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97159540-E1FB-01FF-08DA-BAFCD54F02AF}"/>
              </a:ext>
            </a:extLst>
          </p:cNvPr>
          <p:cNvSpPr txBox="1"/>
          <p:nvPr/>
        </p:nvSpPr>
        <p:spPr>
          <a:xfrm>
            <a:off x="767308" y="1250011"/>
            <a:ext cx="8327529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Introduction to Dataset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Objective of the Project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Dataset Overview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ER Diagram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Key Analysis Questions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SQL Analysis &amp; Findings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Insights &amp; Conclusion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Challenges Faced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DFBA26D-B04E-D2EE-35B5-19AA039E12BF}"/>
              </a:ext>
            </a:extLst>
          </p:cNvPr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Agenda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4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B03EB1B-C87E-BE1B-9A28-89F9951D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energy consumption, clean power line icon 36324207 Vector Art at  Vecteezy">
            <a:extLst>
              <a:ext uri="{FF2B5EF4-FFF2-40B4-BE49-F238E27FC236}">
                <a16:creationId xmlns:a16="http://schemas.microsoft.com/office/drawing/2014/main" id="{2170B6D4-6669-4E7F-D7B7-4231ECAAF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177" y="885373"/>
            <a:ext cx="4461387" cy="446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F1C895D2-3CD5-2251-272F-7EDB0A13E23C}"/>
              </a:ext>
            </a:extLst>
          </p:cNvPr>
          <p:cNvSpPr txBox="1"/>
          <p:nvPr/>
        </p:nvSpPr>
        <p:spPr>
          <a:xfrm>
            <a:off x="767308" y="1289340"/>
            <a:ext cx="7894911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The goal of this project is to analyze global energy data to understand the relationship between: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Energy Consumption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Energy Production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Population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Emissions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Using SQL queries, the project aims to identify trends, comparisons, and environmental insights across countries.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9B8D344-41ED-E4BE-A7DE-81CD5BC19D2E}"/>
              </a:ext>
            </a:extLst>
          </p:cNvPr>
          <p:cNvSpPr txBox="1"/>
          <p:nvPr/>
        </p:nvSpPr>
        <p:spPr>
          <a:xfrm>
            <a:off x="496481" y="455883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Objective of the Project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087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10;p4">
            <a:extLst>
              <a:ext uri="{FF2B5EF4-FFF2-40B4-BE49-F238E27FC236}">
                <a16:creationId xmlns:a16="http://schemas.microsoft.com/office/drawing/2014/main" id="{7A56BF7E-3529-7754-9D94-F2E8793FEC9E}"/>
              </a:ext>
            </a:extLst>
          </p:cNvPr>
          <p:cNvSpPr txBox="1">
            <a:spLocks/>
          </p:cNvSpPr>
          <p:nvPr/>
        </p:nvSpPr>
        <p:spPr>
          <a:xfrm>
            <a:off x="3707259" y="0"/>
            <a:ext cx="4777481" cy="80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500" b="1" dirty="0">
                <a:solidFill>
                  <a:srgbClr val="FF0000"/>
                </a:solidFill>
                <a:latin typeface="Berlin Sans FB Demi" panose="020E0802020502020306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 Description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107B5-2DE2-B547-B797-E55909745BF8}"/>
              </a:ext>
            </a:extLst>
          </p:cNvPr>
          <p:cNvSpPr txBox="1"/>
          <p:nvPr/>
        </p:nvSpPr>
        <p:spPr>
          <a:xfrm>
            <a:off x="1671485" y="1121772"/>
            <a:ext cx="30381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1) Country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BC7BE-0E15-814F-E11C-AC37B2E27E4A}"/>
              </a:ext>
            </a:extLst>
          </p:cNvPr>
          <p:cNvSpPr txBox="1"/>
          <p:nvPr/>
        </p:nvSpPr>
        <p:spPr>
          <a:xfrm>
            <a:off x="1671485" y="3311053"/>
            <a:ext cx="30381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2) Emission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19F395-BE57-2537-CCBA-6A4222959868}"/>
              </a:ext>
            </a:extLst>
          </p:cNvPr>
          <p:cNvSpPr txBox="1"/>
          <p:nvPr/>
        </p:nvSpPr>
        <p:spPr>
          <a:xfrm>
            <a:off x="6854274" y="1118856"/>
            <a:ext cx="39513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3) Population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6FE6C9-2FA6-5260-E25D-6EB10D5A5127}"/>
              </a:ext>
            </a:extLst>
          </p:cNvPr>
          <p:cNvSpPr txBox="1"/>
          <p:nvPr/>
        </p:nvSpPr>
        <p:spPr>
          <a:xfrm>
            <a:off x="6854274" y="3311053"/>
            <a:ext cx="42582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4) Production Table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0B2284-F637-C349-3375-C7B390261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00" y="1876687"/>
            <a:ext cx="4163006" cy="9621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4DB146-BE62-F578-F026-EB6AD730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76" y="4166493"/>
            <a:ext cx="4734586" cy="13622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98491CD-4482-2A33-FCC6-1BDBC6649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295" y="1810846"/>
            <a:ext cx="4258269" cy="10288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68148C0-5A97-EC0C-7274-24384870D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610" y="4237941"/>
            <a:ext cx="439163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98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2392AC3-E58D-9E2A-464C-3B81FC0960C3}"/>
              </a:ext>
            </a:extLst>
          </p:cNvPr>
          <p:cNvSpPr txBox="1"/>
          <p:nvPr/>
        </p:nvSpPr>
        <p:spPr>
          <a:xfrm>
            <a:off x="3827206" y="928763"/>
            <a:ext cx="453758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5) Consumption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FFFA31-55A5-DA69-0465-04896710AC68}"/>
              </a:ext>
            </a:extLst>
          </p:cNvPr>
          <p:cNvSpPr txBox="1"/>
          <p:nvPr/>
        </p:nvSpPr>
        <p:spPr>
          <a:xfrm>
            <a:off x="3827206" y="3111481"/>
            <a:ext cx="30381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6) GDP Table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5462B49-9BFF-DA88-03BE-917BA92D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96" y="1606654"/>
            <a:ext cx="4344006" cy="110505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19288DE-41F6-0296-02D3-D75F61C26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96" y="3879134"/>
            <a:ext cx="420111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55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14ED-B96F-F215-F6F4-100A12FA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10;p4">
            <a:extLst>
              <a:ext uri="{FF2B5EF4-FFF2-40B4-BE49-F238E27FC236}">
                <a16:creationId xmlns:a16="http://schemas.microsoft.com/office/drawing/2014/main" id="{936D0F46-BA86-6DEC-4D14-B0AD862FFA34}"/>
              </a:ext>
            </a:extLst>
          </p:cNvPr>
          <p:cNvSpPr txBox="1">
            <a:spLocks/>
          </p:cNvSpPr>
          <p:nvPr/>
        </p:nvSpPr>
        <p:spPr>
          <a:xfrm>
            <a:off x="3707259" y="0"/>
            <a:ext cx="4777481" cy="80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000" b="1" dirty="0">
                <a:solidFill>
                  <a:srgbClr val="FF0000"/>
                </a:solidFill>
                <a:latin typeface="Berlin Sans FB Demi" panose="020E0802020502020306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Structure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AE5CDB-19C0-5A1D-E9A2-FF4C6E4BFD1B}"/>
              </a:ext>
            </a:extLst>
          </p:cNvPr>
          <p:cNvSpPr txBox="1"/>
          <p:nvPr/>
        </p:nvSpPr>
        <p:spPr>
          <a:xfrm>
            <a:off x="446542" y="671297"/>
            <a:ext cx="30381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1) Country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8A8627-3728-A32D-3B13-AB96B3B8172D}"/>
              </a:ext>
            </a:extLst>
          </p:cNvPr>
          <p:cNvSpPr txBox="1"/>
          <p:nvPr/>
        </p:nvSpPr>
        <p:spPr>
          <a:xfrm>
            <a:off x="7295285" y="671297"/>
            <a:ext cx="30381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2) Emission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D107F6-3830-AA1B-EF3A-7D93B6BA2C0C}"/>
              </a:ext>
            </a:extLst>
          </p:cNvPr>
          <p:cNvSpPr txBox="1"/>
          <p:nvPr/>
        </p:nvSpPr>
        <p:spPr>
          <a:xfrm>
            <a:off x="446542" y="4927876"/>
            <a:ext cx="39513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3) Population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FC7BA-4978-83BE-1FCE-FAA9CAE2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62" r="20424" b="6434"/>
          <a:stretch>
            <a:fillRect/>
          </a:stretch>
        </p:blipFill>
        <p:spPr>
          <a:xfrm>
            <a:off x="746753" y="1148351"/>
            <a:ext cx="2241756" cy="2568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DDE4AC-F24E-3BEF-4669-9B54FD4B4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99" y="1148351"/>
            <a:ext cx="5872140" cy="2684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E75E3-6E0B-9060-2769-5ED91E582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073" y="4109002"/>
            <a:ext cx="2575554" cy="259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16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E054A-C402-85AD-8FED-8104A4CE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FE6ADFD-60D9-3494-F9FD-0325E813711F}"/>
              </a:ext>
            </a:extLst>
          </p:cNvPr>
          <p:cNvSpPr txBox="1"/>
          <p:nvPr/>
        </p:nvSpPr>
        <p:spPr>
          <a:xfrm>
            <a:off x="4235233" y="928763"/>
            <a:ext cx="453758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5) Consumption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19CB76-3D01-5F36-D14A-6FA709553974}"/>
              </a:ext>
            </a:extLst>
          </p:cNvPr>
          <p:cNvSpPr txBox="1"/>
          <p:nvPr/>
        </p:nvSpPr>
        <p:spPr>
          <a:xfrm>
            <a:off x="8415462" y="928763"/>
            <a:ext cx="30381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6) GDP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A02A7-8235-CF5D-9843-E4FB37385EC2}"/>
              </a:ext>
            </a:extLst>
          </p:cNvPr>
          <p:cNvSpPr txBox="1"/>
          <p:nvPr/>
        </p:nvSpPr>
        <p:spPr>
          <a:xfrm>
            <a:off x="334322" y="928763"/>
            <a:ext cx="42582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4) Production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E73A4-15C7-2843-123C-E4699169EC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49"/>
          <a:stretch>
            <a:fillRect/>
          </a:stretch>
        </p:blipFill>
        <p:spPr>
          <a:xfrm>
            <a:off x="334322" y="2074576"/>
            <a:ext cx="3611796" cy="2708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021C98-9133-B9A3-403C-BC95054B9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742" y="2074576"/>
            <a:ext cx="3746096" cy="2708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C3A9E-829D-83EF-B3DD-C9FEB462AE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57"/>
          <a:stretch>
            <a:fillRect/>
          </a:stretch>
        </p:blipFill>
        <p:spPr>
          <a:xfrm>
            <a:off x="8415462" y="1744524"/>
            <a:ext cx="2640633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52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8BA7FC2-ED68-57B3-854D-A4A66440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285FC932-4890-6EBD-3D5E-156584F496F7}"/>
              </a:ext>
            </a:extLst>
          </p:cNvPr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ER Diagram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296FB-2CD8-A4EF-2AD9-E3AB3242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16" y="1259199"/>
            <a:ext cx="7958240" cy="5458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668D9F-788B-00DF-8806-CD6BD8108A0F}"/>
              </a:ext>
            </a:extLst>
          </p:cNvPr>
          <p:cNvSpPr txBox="1"/>
          <p:nvPr/>
        </p:nvSpPr>
        <p:spPr>
          <a:xfrm>
            <a:off x="3598605" y="401144"/>
            <a:ext cx="83967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The country table acts as the central table, and other tables are connected using foreign key relationships forming a one-to-many relationship.</a:t>
            </a:r>
            <a:endParaRPr lang="en-IN" sz="1700" b="1" dirty="0"/>
          </a:p>
        </p:txBody>
      </p:sp>
    </p:spTree>
    <p:extLst>
      <p:ext uri="{BB962C8B-B14F-4D97-AF65-F5344CB8AC3E}">
        <p14:creationId xmlns:p14="http://schemas.microsoft.com/office/powerpoint/2010/main" val="275299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3">
            <a:extLst>
              <a:ext uri="{FF2B5EF4-FFF2-40B4-BE49-F238E27FC236}">
                <a16:creationId xmlns:a16="http://schemas.microsoft.com/office/drawing/2014/main" id="{C9AFAFE1-0FDE-CAA8-88B7-7C2C724FA7FB}"/>
              </a:ext>
            </a:extLst>
          </p:cNvPr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Key Analysis Questions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C32CC-01FE-79E1-DF56-17B5DF6ED9C4}"/>
              </a:ext>
            </a:extLst>
          </p:cNvPr>
          <p:cNvSpPr txBox="1"/>
          <p:nvPr/>
        </p:nvSpPr>
        <p:spPr>
          <a:xfrm>
            <a:off x="427656" y="1001289"/>
            <a:ext cx="109629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 b="1" dirty="0"/>
              <a:t>What is the total emission per country for the most recent year available?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C9BA6-01BE-9CA5-CD55-4DCB80606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5" y="2640159"/>
            <a:ext cx="4239217" cy="1685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139586-55D3-F35F-1012-EF268EB73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828" y="2640159"/>
            <a:ext cx="2772162" cy="3038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D8D4CA-3930-C306-4B02-39BDD113BDEB}"/>
              </a:ext>
            </a:extLst>
          </p:cNvPr>
          <p:cNvSpPr txBox="1"/>
          <p:nvPr/>
        </p:nvSpPr>
        <p:spPr>
          <a:xfrm>
            <a:off x="771075" y="2055424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FCE1B-2587-7F04-DF45-FD0423867096}"/>
              </a:ext>
            </a:extLst>
          </p:cNvPr>
          <p:cNvSpPr txBox="1"/>
          <p:nvPr/>
        </p:nvSpPr>
        <p:spPr>
          <a:xfrm>
            <a:off x="7014828" y="2055424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6569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F7B4-EC67-AF37-F6FF-B54997CD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9ACA6B-4684-841B-7E6A-59E8E324A906}"/>
              </a:ext>
            </a:extLst>
          </p:cNvPr>
          <p:cNvSpPr txBox="1"/>
          <p:nvPr/>
        </p:nvSpPr>
        <p:spPr>
          <a:xfrm>
            <a:off x="457957" y="808929"/>
            <a:ext cx="9620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500" b="1" dirty="0"/>
              <a:t>What are the top 5 countries by GDP in the most recent year?</a:t>
            </a:r>
            <a:br>
              <a:rPr lang="en-US" sz="2500" b="1" dirty="0"/>
            </a:br>
            <a:br>
              <a:rPr lang="en-US" sz="2500" b="1" dirty="0"/>
            </a:br>
            <a:endParaRPr lang="en-IN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36B89-F7C7-49CF-8A3A-CBADDA1C28AA}"/>
              </a:ext>
            </a:extLst>
          </p:cNvPr>
          <p:cNvSpPr txBox="1"/>
          <p:nvPr/>
        </p:nvSpPr>
        <p:spPr>
          <a:xfrm>
            <a:off x="780725" y="2201618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A865B-2496-3FEE-6D39-9F551585B30E}"/>
              </a:ext>
            </a:extLst>
          </p:cNvPr>
          <p:cNvSpPr txBox="1"/>
          <p:nvPr/>
        </p:nvSpPr>
        <p:spPr>
          <a:xfrm>
            <a:off x="7014828" y="2164550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707E3-3F8E-FF48-209D-98D8EF39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25" y="2857600"/>
            <a:ext cx="4620796" cy="13604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33F49B-F8A3-B225-66BD-4139F7C9A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828" y="2752652"/>
            <a:ext cx="2976041" cy="231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7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8763-B1D8-397D-C86F-8D6D6A2F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5A92C9-CE50-7291-B6E1-EEE22424D4CF}"/>
              </a:ext>
            </a:extLst>
          </p:cNvPr>
          <p:cNvSpPr txBox="1"/>
          <p:nvPr/>
        </p:nvSpPr>
        <p:spPr>
          <a:xfrm>
            <a:off x="448125" y="649658"/>
            <a:ext cx="109629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500" b="1" dirty="0"/>
              <a:t>Which energy types contribute most to emissions across all countries?</a:t>
            </a:r>
            <a:endParaRPr lang="en-IN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6BB9F-11F1-80AE-C7B4-0BC976FD1D24}"/>
              </a:ext>
            </a:extLst>
          </p:cNvPr>
          <p:cNvSpPr txBox="1"/>
          <p:nvPr/>
        </p:nvSpPr>
        <p:spPr>
          <a:xfrm>
            <a:off x="771076" y="2096568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B11932-1D47-C624-55C4-CB057D92F21D}"/>
              </a:ext>
            </a:extLst>
          </p:cNvPr>
          <p:cNvSpPr txBox="1"/>
          <p:nvPr/>
        </p:nvSpPr>
        <p:spPr>
          <a:xfrm>
            <a:off x="7014828" y="1672021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1D1F4-948D-00B5-07FD-FA169160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" y="2905808"/>
            <a:ext cx="5029956" cy="134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C13FC4-9AA9-CC1C-99EC-12EDC8EE4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0" y="2159751"/>
            <a:ext cx="5151963" cy="185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7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53D2-D705-D132-77C4-EF8F4069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17C50C-18D2-0881-69F4-AA9FDEAA90A7}"/>
              </a:ext>
            </a:extLst>
          </p:cNvPr>
          <p:cNvSpPr txBox="1"/>
          <p:nvPr/>
        </p:nvSpPr>
        <p:spPr>
          <a:xfrm>
            <a:off x="448125" y="649658"/>
            <a:ext cx="109629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500" b="1" dirty="0"/>
              <a:t>How have global emissions changed year over year?</a:t>
            </a:r>
            <a:endParaRPr lang="en-IN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AA085-8F33-A224-82D9-ADAE166F1E41}"/>
              </a:ext>
            </a:extLst>
          </p:cNvPr>
          <p:cNvSpPr txBox="1"/>
          <p:nvPr/>
        </p:nvSpPr>
        <p:spPr>
          <a:xfrm>
            <a:off x="771076" y="1682697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730B1-B6E9-F0B8-9C31-7FABC7C177D5}"/>
              </a:ext>
            </a:extLst>
          </p:cNvPr>
          <p:cNvSpPr txBox="1"/>
          <p:nvPr/>
        </p:nvSpPr>
        <p:spPr>
          <a:xfrm>
            <a:off x="7014828" y="1682697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CE466-C2CE-76EA-9421-75DCCCDE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5" y="2295367"/>
            <a:ext cx="4511033" cy="1529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B3BDBE-C617-0A9A-DB65-D3F4C22B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894" y="2295367"/>
            <a:ext cx="2951861" cy="191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3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531C-CACE-4E3D-7DE5-5D40CBB1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194F0-E427-ED62-5740-5D026C9D8A9D}"/>
              </a:ext>
            </a:extLst>
          </p:cNvPr>
          <p:cNvSpPr txBox="1"/>
          <p:nvPr/>
        </p:nvSpPr>
        <p:spPr>
          <a:xfrm>
            <a:off x="448125" y="649658"/>
            <a:ext cx="109629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500" b="1" dirty="0"/>
              <a:t>Has energy consumption increased or decreased over the years for major economies? (US, China, India, Germany, Japan)</a:t>
            </a:r>
            <a:endParaRPr lang="en-IN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B026D-9778-CBB4-2B3D-03F0654B79BC}"/>
              </a:ext>
            </a:extLst>
          </p:cNvPr>
          <p:cNvSpPr txBox="1"/>
          <p:nvPr/>
        </p:nvSpPr>
        <p:spPr>
          <a:xfrm>
            <a:off x="771076" y="1682697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0EF9E-3A63-6DF0-381C-21705ADEF4D0}"/>
              </a:ext>
            </a:extLst>
          </p:cNvPr>
          <p:cNvSpPr txBox="1"/>
          <p:nvPr/>
        </p:nvSpPr>
        <p:spPr>
          <a:xfrm>
            <a:off x="7014828" y="1682697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E093F-C340-18D5-ADBD-FDFA8C446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48" y="2497393"/>
            <a:ext cx="5647876" cy="1474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C77616-45BE-EEEB-8AB7-8ACE2524C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760" y="2159751"/>
            <a:ext cx="2974240" cy="366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9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1CA-D048-E76F-0F28-3B1807BD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A9C1D-90DA-9E1F-66F2-B941957F1FC4}"/>
              </a:ext>
            </a:extLst>
          </p:cNvPr>
          <p:cNvSpPr txBox="1"/>
          <p:nvPr/>
        </p:nvSpPr>
        <p:spPr>
          <a:xfrm>
            <a:off x="448125" y="649658"/>
            <a:ext cx="1096296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500" b="1" dirty="0"/>
              <a:t>What is the global share (%) of emissions by country?</a:t>
            </a:r>
            <a:endParaRPr lang="en-IN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E39AE-FA63-4831-D083-660353F754DD}"/>
              </a:ext>
            </a:extLst>
          </p:cNvPr>
          <p:cNvSpPr txBox="1"/>
          <p:nvPr/>
        </p:nvSpPr>
        <p:spPr>
          <a:xfrm>
            <a:off x="771076" y="1682697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90956-9720-A79B-DFB4-69CB856B6091}"/>
              </a:ext>
            </a:extLst>
          </p:cNvPr>
          <p:cNvSpPr txBox="1"/>
          <p:nvPr/>
        </p:nvSpPr>
        <p:spPr>
          <a:xfrm>
            <a:off x="7014828" y="1682697"/>
            <a:ext cx="23007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F32F7-1BE8-1CF2-CA14-530C0F388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" y="2430683"/>
            <a:ext cx="5944356" cy="1524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25B6B6-77C2-1B53-F744-6DA6E5485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63"/>
          <a:stretch>
            <a:fillRect/>
          </a:stretch>
        </p:blipFill>
        <p:spPr>
          <a:xfrm>
            <a:off x="7014828" y="2191576"/>
            <a:ext cx="3564682" cy="37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5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B82316-8A36-AB9C-99B8-4D877D4E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30721B44-5722-12FA-EA9F-823B75177920}"/>
              </a:ext>
            </a:extLst>
          </p:cNvPr>
          <p:cNvSpPr txBox="1"/>
          <p:nvPr/>
        </p:nvSpPr>
        <p:spPr>
          <a:xfrm>
            <a:off x="491809" y="1001289"/>
            <a:ext cx="8150746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▪ </a:t>
            </a:r>
            <a:r>
              <a:rPr lang="en-US" sz="2000" b="1" dirty="0"/>
              <a:t>Global energy consumption has increased over the years</a:t>
            </a:r>
            <a:r>
              <a:rPr lang="en-US" sz="2000" dirty="0"/>
              <a:t>, driven by population growth and economic development.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▪ </a:t>
            </a:r>
            <a:r>
              <a:rPr lang="en-US" sz="2000" b="1" dirty="0"/>
              <a:t>China, the USA, and India contribute a major share of global energy use and emissions</a:t>
            </a:r>
            <a:r>
              <a:rPr lang="en-US" sz="2000" dirty="0"/>
              <a:t>, highlighting their influence on global energy trends.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▪ </a:t>
            </a:r>
            <a:r>
              <a:rPr lang="en-US" sz="2000" b="1" dirty="0"/>
              <a:t>Fossil fuels remain the dominant energy source</a:t>
            </a:r>
            <a:r>
              <a:rPr lang="en-US" sz="2000" dirty="0"/>
              <a:t>, making them the primary contributors to global emissions.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▪ </a:t>
            </a:r>
            <a:r>
              <a:rPr lang="en-US" sz="2000" b="1" dirty="0"/>
              <a:t>Countries with higher GDP generally show higher energy consumption</a:t>
            </a:r>
            <a:r>
              <a:rPr lang="en-US" sz="2000" dirty="0"/>
              <a:t>, indicating a strong link between economic growth and energy demand.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▪ </a:t>
            </a:r>
            <a:r>
              <a:rPr lang="en-US" sz="2000" b="1" dirty="0"/>
              <a:t>Population growth significantly impacts emissions</a:t>
            </a:r>
            <a:r>
              <a:rPr lang="en-US" sz="2000" dirty="0"/>
              <a:t>, as larger populations require more energy for industrial and domestic activities.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ADB7C1F-4A8C-D9BE-B361-963839002BE2}"/>
              </a:ext>
            </a:extLst>
          </p:cNvPr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Key Insights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96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F689209-1369-16B1-9B24-53D2D357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5F56B3AA-E469-53C4-3B55-C603189586B7}"/>
              </a:ext>
            </a:extLst>
          </p:cNvPr>
          <p:cNvSpPr txBox="1"/>
          <p:nvPr/>
        </p:nvSpPr>
        <p:spPr>
          <a:xfrm>
            <a:off x="427656" y="1001289"/>
            <a:ext cx="10746462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Promote renewable energy sources</a:t>
            </a:r>
            <a:r>
              <a:rPr lang="en-US" sz="2000" dirty="0"/>
              <a:t> such as solar and wind to reduce reliance on fossil fuels.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Improve energy efficiency</a:t>
            </a:r>
            <a:r>
              <a:rPr lang="en-US" sz="2000" dirty="0"/>
              <a:t> through modern technologies and better energy management practices.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Encourage investment in sustainable and low-carbon energy technologies</a:t>
            </a:r>
            <a:r>
              <a:rPr lang="en-US" sz="2000" dirty="0"/>
              <a:t> for long-term environmental protection.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Use data-driven analysis</a:t>
            </a:r>
            <a:r>
              <a:rPr lang="en-US" sz="2000" dirty="0"/>
              <a:t> of energy consumption, emissions, GDP, and population trends to support better decision-making.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Strengthen international cooperation</a:t>
            </a:r>
            <a:r>
              <a:rPr lang="en-US" sz="2000" dirty="0"/>
              <a:t> to share best practices and improve global energy sustainability.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D53D10FB-DF05-50B4-32C6-A0805D5A7F8A}"/>
              </a:ext>
            </a:extLst>
          </p:cNvPr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Recommendations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4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B3193BD-E2DB-8D1F-982C-6744FA4B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62CF8B75-FD14-A617-D0D7-F2B1EB515836}"/>
              </a:ext>
            </a:extLst>
          </p:cNvPr>
          <p:cNvSpPr txBox="1"/>
          <p:nvPr/>
        </p:nvSpPr>
        <p:spPr>
          <a:xfrm>
            <a:off x="427656" y="1001289"/>
            <a:ext cx="10746462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Energy consumption and emissions are higher in major economies</a:t>
            </a:r>
            <a:r>
              <a:rPr lang="en-US" sz="2000" dirty="0"/>
              <a:t> due to population growth and industrial development.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Fossil fuels are still the main energy source</a:t>
            </a:r>
            <a:r>
              <a:rPr lang="en-US" sz="2000" dirty="0"/>
              <a:t>, leading to higher global emissions.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Energy demand increases as population and economic growth increase.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Some countries use energy more efficiently</a:t>
            </a:r>
            <a:r>
              <a:rPr lang="en-US" sz="2000" dirty="0"/>
              <a:t>, producing lower emissions compared to others.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Using renewable energy and improving efficiency can help reduce emissions and support sustainable development.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A9E99F09-F9EA-3D17-2EC2-91109C2597BB}"/>
              </a:ext>
            </a:extLst>
          </p:cNvPr>
          <p:cNvSpPr txBox="1"/>
          <p:nvPr/>
        </p:nvSpPr>
        <p:spPr>
          <a:xfrm>
            <a:off x="427656" y="41655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Conclusion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092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 you button. Thank you text web template. Vector Illustration.  11054865 Vector Art at Vecteezy">
            <a:extLst>
              <a:ext uri="{FF2B5EF4-FFF2-40B4-BE49-F238E27FC236}">
                <a16:creationId xmlns:a16="http://schemas.microsoft.com/office/drawing/2014/main" id="{728F52C5-D1C0-B973-6D88-A2BA3D496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487" y="529117"/>
            <a:ext cx="8180571" cy="573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556</Words>
  <Application>Microsoft Office PowerPoint</Application>
  <PresentationFormat>Widescreen</PresentationFormat>
  <Paragraphs>82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Lato Black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Parvez Shaik</cp:lastModifiedBy>
  <cp:revision>5</cp:revision>
  <dcterms:created xsi:type="dcterms:W3CDTF">2021-02-16T05:19:01Z</dcterms:created>
  <dcterms:modified xsi:type="dcterms:W3CDTF">2026-03-17T10:51:37Z</dcterms:modified>
</cp:coreProperties>
</file>